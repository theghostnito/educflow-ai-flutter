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560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semanas 7 y 11 corresponden a hitos de cierre y transición entre fases (Fase 1 termina y Fase 2 comienza en S7; lo mismo entre Fase 2 y Fase 3 en S11) — decirlo oralmente si preguntan por qué se repiten.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qué 'multiplataforma' si iOS no tendrá app de App Store: Flutter se usa para Android y web; Android se distribuye como aplicación instalada y en iOS se utiliza la versión web/PWA. Si preguntan por qué Firebase: permite autenticación y persistencia serverless integradas con Flutter mediante FlutterFire, reduciendo infraestructura propia para el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qué no usamos un modelo relacional: Cloud Firestore es NoSQL orientado a documentos, así que adaptamos ese punto de la pauta a un modelo documental. El UID de Firebase Authentication identifica al usuario y permite asociar de forma segura sus datos en Firestore.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qué ocurre si el perfil está incompleto: el Dashboard detecta los datos faltantes, muestra 'Completar perfil' y dirige al módulo Perfil para completar/editar la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B3FA0">
              <a:alpha val="4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00897B">
              <a:alpha val="3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DE TÍTULO · CAPSTONE — FASE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EducFlow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y Presentación del Caso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Castillo  ·  Martín Rozas
</a:t>
            </a:r>
            <a:r>
              <a:rPr lang="en-US" sz="125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— Duoc UC, Sede Plaza Vespucio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caso · 15 minutos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EQUIPO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de trabajo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3EF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892808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Nicolás Castillo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25856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(rotativo) · Scrum Master (rotativo) · Developer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principal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backlog, documentación, planificación y validación de pruebas (QA de apoyo).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(RACI)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en Visión, Backlog, Refinamiento de HU y Pruebas.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E6F5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6492240" y="1920240"/>
            <a:ext cx="685800" cy="68580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0" y="1892808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Martín Rozas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0" y="225856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(rotativo) · Product Owner (rotativo) · Developer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37960" y="297180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principal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24612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Flutter, integración con Firebase (Authentication y Firestore), desarrollo de módulos.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42976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(RACI)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457200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en Arquitectura, Firebase Auth y Firestore.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2 integrantes — Scrum adaptado: ambos son Developers; los roles de Product Owner y Scrum Master se distribuyen y alternan según la actividad o sprint.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CASO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del Caso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FD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académica y el acompañamiento estudiantil dependen de canales fragmentados: circulares en papel, mensajería informal, planillas y portales poco intuitivos.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dificulta que el estudiante acceda de forma centralizada a su información académica (horarios, evaluaciones, comunicados, progreso).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especialmente a estudiantes en distintos contextos educativos — Básica/Media, Técnico/Superior, Curso/Otro — cada uno con necesidades de información distintas.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554480"/>
            <a:ext cx="5440680" cy="4297680"/>
          </a:xfrm>
          <a:prstGeom prst="roundRect">
            <a:avLst>
              <a:gd name="adj" fmla="val 2128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519672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9672" y="21945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AI: solución multiplataforma (Android + web/PWA para iOS) que centraliza la gestión académica y el acompañamiento estudiantil, apoyada por Inteligencia Artificial.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9672" y="33832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la experiencia según el nivel o modalidad educativa del estudiante, mediante un Perfil Académico Dinámico y un Dashboard personalizado.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43434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(MVP): Autenticación, Registro, Perfil y Dashboard. Notificaciones e IA cuentan con una implementación inicial y se consolidan en fases posteriores; OCR se incorpora posteriormente.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OBJETIVOS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General y Específicos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5B3FA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Desarrollar, como equipo, EducFlow AI: una solución multiplataforma en Flutter que centralice la gestión académica y el acompañamiento estudiantil, con funcionalidades apoyadas en IA e integradas con Firebase.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804672" y="313639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04672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026664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autenticación y registro (Firebase Authentication) y el Perfil Académico Dinámico (Cloud Firestore).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8803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428232" y="313639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428232" y="3136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026664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modelo de datos en Firestore, soportando la consolidación de notificaciones/chat IA y la futura incorporación de OCR.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804672" y="469087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804672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581144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Dashboard base que centralice la información académica relevante del estudiante.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4348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428232" y="469087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428232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4581144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y ampliar, en fases posteriores, notificaciones y asistente conversacional; incorporar el análisis OCR.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PLANIFICACIÓN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Cronograma de Hitos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del semestre, distribuidas en 3 fases (Definición, Desarrollo, Cierre)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3246120"/>
            <a:ext cx="9601200" cy="0"/>
          </a:xfrm>
          <a:prstGeom prst="line">
            <a:avLst/>
          </a:prstGeom>
          <a:noFill/>
          <a:ln w="50800">
            <a:solidFill>
              <a:srgbClr val="E8DFF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133856" y="3099816"/>
            <a:ext cx="292608" cy="292608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22960" y="34472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y definición de Fase 1 validados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34156" y="3099816"/>
            <a:ext cx="292608" cy="292608"/>
          </a:xfrm>
          <a:prstGeom prst="ellipse">
            <a:avLst/>
          </a:prstGeom>
          <a:solidFill>
            <a:srgbClr val="0089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223260" y="34472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28900" y="38404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en Firestore validado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34456" y="3099816"/>
            <a:ext cx="292608" cy="292608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623560" y="34472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base consolidado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(Login, Registro, Perfil, Dashboard)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34756" y="3099816"/>
            <a:ext cx="292608" cy="292608"/>
          </a:xfrm>
          <a:prstGeom prst="ellipse">
            <a:avLst/>
          </a:prstGeom>
          <a:solidFill>
            <a:srgbClr val="00897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023860" y="34472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29500" y="38404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consolidadas y OCR integrado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735056" y="3099816"/>
            <a:ext cx="292608" cy="292608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0424160" y="34472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28632" y="18288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finales, consolidación IA y cierre del informe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MVP (S1-S7)   </a:t>
            </a:r>
            <a:r>
              <a:rPr lang="en-US" sz="12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2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Evolución (S7-S11)   </a:t>
            </a:r>
            <a:r>
              <a:rPr lang="en-US" sz="12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Cierre (S11-S18)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CÓMO TRABAJAMOS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a Utilizar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 a un equipo de 2 integrantes.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 dentro de las 3 fases de la asignatura.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650492" y="2377440"/>
            <a:ext cx="402336" cy="402336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65049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644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de cada sprint (2 semanas)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485132" y="2377440"/>
            <a:ext cx="402336" cy="40233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48513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periódico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0440" y="32644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avance durante el sprint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319772" y="2377440"/>
            <a:ext cx="402336" cy="402336"/>
          </a:xfrm>
          <a:prstGeom prst="ellipse">
            <a:avLst/>
          </a:prstGeom>
          <a:solidFill>
            <a:srgbClr val="5B3FA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31977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2644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 cada sprint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21488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0154412" y="2377440"/>
            <a:ext cx="402336" cy="40233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10154412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89720" y="32644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actualización del backlog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adaptados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integrantes son Developers. Los roles de Product Owner y Scrum Master se distribuyen y alternan según la actividad o sprint (ver Matriz RACI en Evidencias de Fase 1).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trabajo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43434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SDK / Dart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/ VS Code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 (Auth + Firestore)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digital de seguimiento del Product Backlog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repositorio remoto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TECNOLOGÍA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559052" y="201168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5B3FA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/ Dart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multiplataforma con una base de código unificada, organizada por funcionalidades.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393692" y="201168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52044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Authentication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identidad, registro e inicio de sesión de los estudiantes.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EF6E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7228332" y="201168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Firestore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NoSQL para persistencia de perfiles y datos académicos.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D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10062972" y="201168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18972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+ Web/PWA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36576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Android desarrollada con Flutter, y versión web/PWA accesible desde iOS.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combinación Flutter + Firebase permite una única base de código cliente y un backend serverless, sin duplicar desarrollo entre Android y web.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 NoSQL — Primer Bosquejo (Firestore)</a:t>
            </a:r>
            <a:endParaRPr lang="en-US" sz="3000" dirty="0"/>
          </a:p>
        </p:txBody>
      </p:sp>
      <p:pic>
        <p:nvPicPr>
          <p:cNvPr id="4" name="Image 0" descr="deck_assets/data_model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1691640"/>
            <a:ext cx="941832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es una base de datos documental NoSQL (no relacional): Firebase Authentication genera el UID del estudiante, que identifica su documento en la colección usuarios, con los datos generales, el perfil académico y las preferencias como mapa embebido.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Base — Fase 1</a:t>
            </a:r>
            <a:endParaRPr lang="en-US" sz="3000" dirty="0"/>
          </a:p>
        </p:txBody>
      </p:sp>
      <p:pic>
        <p:nvPicPr>
          <p:cNvPr id="4" name="Image 0" descr="deck_assets/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1828800"/>
            <a:ext cx="9784080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cliente-servicio serverless evaluada en Fase 1: el cliente Flutter (Android + Web/PWA) se conecta directamente a Firebase mediante FlutterFire, sin backend propio que mantener.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de notificaciones, IA y OCR se integrarán sobre esta misma base en fases posteriores.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Funcional — Estado Actual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5943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419856" y="5943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254496" y="5943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académico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9089136" y="59436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perfil académico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1737360" y="6172200"/>
            <a:ext cx="8686800" cy="411480"/>
          </a:xfrm>
          <a:prstGeom prst="roundRect">
            <a:avLst>
              <a:gd name="adj" fmla="val 17778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7"/>
          <p:cNvSpPr/>
          <p:nvPr/>
        </p:nvSpPr>
        <p:spPr>
          <a:xfrm>
            <a:off x="1737360" y="61722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2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HU implementadas  ·  15 Story Points  ·  MVP funcional de Fase 1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69CC32C-63FA-2318-E6A6-A95C07E8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536" y="1527048"/>
            <a:ext cx="2214584" cy="439826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C0678A7-B07A-A305-FD8E-7C20D1EF3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58" y="1417321"/>
            <a:ext cx="2246210" cy="441198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454B81E-5AE2-9AE5-258A-DE67B55C2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882" y="1417320"/>
            <a:ext cx="2019828" cy="448850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146D00D-B877-838C-1649-E6C55033E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98" y="1325963"/>
            <a:ext cx="2066711" cy="45926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MIRANDO ADELANTE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S7–S11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0" y="18562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Consolidación y ampliación de Notificaciones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83280" y="23134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Evaluando mecanismos de entrega compatibles con Android y web/PWA.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EF6E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S9–S11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336499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Desarrollo/Integración de OCR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83280" y="38221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óptico de horarios y mallas académicas.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3EF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914400" y="5120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5B3FA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14400" y="5120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S12–S18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48737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Consolidación del asistente IA contextual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83280" y="533095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del asistente conversacional (Firebase AI / Gemini), pruebas finales e informe.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EducFlow AI — Fase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114800"/>
            <a:ext cx="4572000" cy="4572000"/>
          </a:xfrm>
          <a:prstGeom prst="ellipse">
            <a:avLst/>
          </a:prstGeom>
          <a:solidFill>
            <a:srgbClr val="5B3FA0">
              <a:alpha val="4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CIERRE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F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14600" y="1691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F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14600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MVP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0" y="1691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5FCF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89120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de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de Fase 1 — Autenticación, Registro, Perfil Académico Dinámico y Dashboard — está definido, documentado y coincide con la aplicación funcional actual.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 Scrum adaptada a una dupla, junto con la RACI y los hitos definidos, ha permitido organizar el avance de Fase 1 y proyectar el trabajo durante las 18 semanas del semestre.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 IA ya cuentan con implementación parcial y se proyectan como consolidación en fases posteriores; OCR queda como desarrollo futuro.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queda en condiciones de avanzar hacia la Fase 2 con una base técnica y documental sólida.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897B">
              <a:alpha val="3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Castillo  ·  Martín Rozas  —  EducFlow 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1395</Words>
  <Application>Microsoft Office PowerPoint</Application>
  <PresentationFormat>Panorámica</PresentationFormat>
  <Paragraphs>173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joaquin valenzuela</cp:lastModifiedBy>
  <cp:revision>4</cp:revision>
  <dcterms:created xsi:type="dcterms:W3CDTF">2026-08-31T03:11:13Z</dcterms:created>
  <dcterms:modified xsi:type="dcterms:W3CDTF">2026-08-31T23:30:53Z</dcterms:modified>
</cp:coreProperties>
</file>